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2194560"/>
          </a:xfrm>
          <a:prstGeom prst="rect">
            <a:avLst/>
          </a:prstGeom>
          <a:solidFill>
            <a:srgbClr val="0E1A3B"/>
          </a:solidFill>
          <a:ln w="12700">
            <a:solidFill>
              <a:srgbClr val="0E1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862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Multi-Condition Latent Diffusion for Paired Antibody Sequences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2862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9EC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controls the novelty–foldability trade-off in multi-condition antibody diffusion.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627632"/>
            <a:ext cx="2862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EC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Yunqi Li · Yonglin Zhang · Cornell University · CS 4782 Spring 2026</a:t>
            </a:r>
            <a:endParaRPr lang="en-US" sz="2000" dirty="0"/>
          </a:p>
        </p:txBody>
      </p:sp>
      <p:pic>
        <p:nvPicPr>
          <p:cNvPr id="6" name="Image 0" descr="/sessions/elegant-nice-mayer/mnt/DL Final/ab_ld4lg_results/figures/cartoon_masc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15080" y="164592"/>
            <a:ext cx="32004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123640" y="19933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■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matches paper   </a:t>
            </a:r>
            <a:pPr algn="r" indent="0" marL="0">
              <a:buNone/>
            </a:pPr>
            <a:r>
              <a:rPr lang="en-US" sz="1400" b="1" dirty="0">
                <a:solidFill>
                  <a:srgbClr val="5DA9F7"/>
                </a:solidFill>
              </a:rPr>
              <a:t>■ </a:t>
            </a:r>
            <a:pPr algn="r" indent="0" marL="0">
              <a:buNone/>
            </a:pPr>
            <a:r>
              <a:rPr lang="en-US" sz="1300" dirty="0">
                <a:solidFill>
                  <a:srgbClr val="5DA9F7"/>
                </a:solidFill>
              </a:rPr>
              <a:t>our extension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423160"/>
            <a:ext cx="10454640" cy="594360"/>
          </a:xfrm>
          <a:prstGeom prst="rect">
            <a:avLst/>
          </a:prstGeom>
          <a:solidFill>
            <a:srgbClr val="F4F7FB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2423160"/>
            <a:ext cx="1012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 Why antibody generation is hard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3154680"/>
            <a:ext cx="10180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diverse, non-memorized paired sequences.
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brief =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biological conditions:
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isotype  → key handle
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V-gene family  → main groove
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light-chain locus  → side notch
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continuous (LD4LG) and discrete (DPLM) diffusion produce useful variation under the same brief?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11480" y="8275320"/>
            <a:ext cx="10454640" cy="594360"/>
          </a:xfrm>
          <a:prstGeom prst="rect">
            <a:avLst/>
          </a:prstGeom>
          <a:solidFill>
            <a:srgbClr val="DDE9F8"/>
          </a:solidFill>
          <a:ln w="22860">
            <a:solidFill>
              <a:srgbClr val="0066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" y="8275320"/>
            <a:ext cx="1012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 Running example: IGHG · IGHV3 · κ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48640" y="8915400"/>
            <a:ext cx="1018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trace one antibody-key from brief → generated sequence → folded structure. The same example reappears in §3 and §4.</a:t>
            </a:r>
            <a:endParaRPr lang="en-US" sz="2000" dirty="0"/>
          </a:p>
        </p:txBody>
      </p:sp>
      <p:pic>
        <p:nvPicPr>
          <p:cNvPr id="14" name="Image 1" descr="/sessions/elegant-nice-mayer/mnt/DL Final/ab_ld4lg_results/figures/cartoon_pip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9875520"/>
            <a:ext cx="10363200" cy="3200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1480" y="13121640"/>
            <a:ext cx="1045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  Design brief → diffusion generator → candidate antibody-keys → IgFold check.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11480" y="13807440"/>
            <a:ext cx="10454640" cy="594360"/>
          </a:xfrm>
          <a:prstGeom prst="rect">
            <a:avLst/>
          </a:prstGeom>
          <a:solidFill>
            <a:srgbClr val="F4F7FB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6072" y="13807440"/>
            <a:ext cx="1012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  Why this matters (ML framing)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48640" y="14447520"/>
            <a:ext cx="1018032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Token-space Gaussian diffusion (Diffusion-LM) gets MAUVE 0.04 — discrete-noise mismatch.  </a:t>
            </a:r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LD4LG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pushes that boundary into a continuous latent (MAUVE 0.72).  </a:t>
            </a:r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DPLM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avoids it via absorbing-state mask noise. We compare both, on the same data.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11231880" y="2423160"/>
            <a:ext cx="10454640" cy="594360"/>
          </a:xfrm>
          <a:prstGeom prst="rect">
            <a:avLst/>
          </a:prstGeom>
          <a:solidFill>
            <a:srgbClr val="F4F7FB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96472" y="2423160"/>
            <a:ext cx="1012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 Two diffusion paradigms, one task</a:t>
            </a:r>
            <a:endParaRPr lang="en-US" sz="2800" dirty="0"/>
          </a:p>
        </p:txBody>
      </p:sp>
      <p:pic>
        <p:nvPicPr>
          <p:cNvPr id="21" name="Image 2" descr="/sessions/elegant-nice-mayer/mnt/DL Final/ab_ld4lg_results/figures/cartoon_paradigm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277600" y="3108960"/>
            <a:ext cx="10363200" cy="32004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231880" y="6355080"/>
            <a:ext cx="1045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  LD4LG denoises a continuous latent. DPLM unmasks tokens iteratively.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11277600" y="7040880"/>
            <a:ext cx="5090160" cy="3291840"/>
          </a:xfrm>
          <a:prstGeom prst="rect">
            <a:avLst/>
          </a:prstGeom>
          <a:solidFill>
            <a:srgbClr val="F4F7FB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1369040" y="7086600"/>
            <a:ext cx="490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LD4LG (continuous workshop)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11396472" y="7543800"/>
            <a:ext cx="48615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Encoder → 32×64 latent
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Cosine schedule + v-pred loss
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12-layer denoiser w/ AdaLN(t,c)
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250-step DDPM
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 decoder → AA tokens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16550640" y="7040880"/>
            <a:ext cx="5090160" cy="3291840"/>
          </a:xfrm>
          <a:prstGeom prst="rect">
            <a:avLst/>
          </a:prstGeom>
          <a:solidFill>
            <a:srgbClr val="F4F7FB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6642080" y="7086600"/>
            <a:ext cx="490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DPLM (token puzzle)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16669512" y="7543800"/>
            <a:ext cx="48615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1-stage bidirectional Transformer
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Mask schedule γ(t)
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 loss on masked positions
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100-step iterative unmask
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stochastic fix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(our extension)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11231880" y="10515600"/>
            <a:ext cx="10454640" cy="594360"/>
          </a:xfrm>
          <a:prstGeom prst="rect">
            <a:avLst/>
          </a:prstGeom>
          <a:solidFill>
            <a:srgbClr val="DDE9F8"/>
          </a:solidFill>
          <a:ln w="22860">
            <a:solidFill>
              <a:srgbClr val="0066C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1396472" y="10515600"/>
            <a:ext cx="1012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 The sampling fix (our extension)</a:t>
            </a:r>
            <a:endParaRPr lang="en-US" sz="2800" dirty="0"/>
          </a:p>
        </p:txBody>
      </p:sp>
      <p:pic>
        <p:nvPicPr>
          <p:cNvPr id="31" name="Image 3" descr="/sessions/elegant-nice-mayer/mnt/DL Final/ab_ld4lg_results/figures/cartoon_greedy_vs_stoch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277600" y="11155680"/>
            <a:ext cx="10363200" cy="75895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231880" y="18836640"/>
            <a:ext cx="1045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3.  Greedy keeps minting the same key; top-p sampling unlocks variation.  20-config sweep on top of this.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22052280" y="2423160"/>
            <a:ext cx="10454640" cy="594360"/>
          </a:xfrm>
          <a:prstGeom prst="rect">
            <a:avLst/>
          </a:prstGeom>
          <a:solidFill>
            <a:srgbClr val="F4F7FB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2216872" y="2423160"/>
            <a:ext cx="1012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 Three findings</a:t>
            </a:r>
            <a:endParaRPr lang="en-US" sz="2800" dirty="0"/>
          </a:p>
        </p:txBody>
      </p:sp>
      <p:sp>
        <p:nvSpPr>
          <p:cNvPr id="35" name="Shape 29"/>
          <p:cNvSpPr/>
          <p:nvPr/>
        </p:nvSpPr>
        <p:spPr>
          <a:xfrm>
            <a:off x="22098000" y="3108960"/>
            <a:ext cx="10363200" cy="1325880"/>
          </a:xfrm>
          <a:prstGeom prst="rect">
            <a:avLst/>
          </a:prstGeom>
          <a:solidFill>
            <a:srgbClr val="F4F7FB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2189440" y="3145536"/>
            <a:ext cx="1018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Reproduction works</a:t>
            </a:r>
            <a:endParaRPr lang="en-US" sz="2000" dirty="0"/>
          </a:p>
        </p:txBody>
      </p:sp>
      <p:sp>
        <p:nvSpPr>
          <p:cNvPr id="37" name="Text 31"/>
          <p:cNvSpPr/>
          <p:nvPr/>
        </p:nvSpPr>
        <p:spPr>
          <a:xfrm>
            <a:off x="22189440" y="3611880"/>
            <a:ext cx="1018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validity   </a:t>
            </a:r>
            <a:pPr indent="0" marL="0"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memorize   </a:t>
            </a:r>
            <a:pPr indent="0" marL="0"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V-gene fid</a:t>
            </a:r>
            <a:endParaRPr lang="en-US" sz="3200" dirty="0"/>
          </a:p>
        </p:txBody>
      </p:sp>
      <p:sp>
        <p:nvSpPr>
          <p:cNvPr id="38" name="Shape 32"/>
          <p:cNvSpPr/>
          <p:nvPr/>
        </p:nvSpPr>
        <p:spPr>
          <a:xfrm>
            <a:off x="22098000" y="4572000"/>
            <a:ext cx="10363200" cy="1325880"/>
          </a:xfrm>
          <a:prstGeom prst="rect">
            <a:avLst/>
          </a:prstGeom>
          <a:solidFill>
            <a:srgbClr val="FAE3EA"/>
          </a:solidFill>
          <a:ln w="22860">
            <a:solidFill>
              <a:srgbClr val="C6282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2189440" y="4608576"/>
            <a:ext cx="1018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Greedy DPLM collapsed</a:t>
            </a:r>
            <a:endParaRPr lang="en-US" sz="2000" dirty="0"/>
          </a:p>
        </p:txBody>
      </p:sp>
      <p:sp>
        <p:nvSpPr>
          <p:cNvPr id="40" name="Text 34"/>
          <p:cNvSpPr/>
          <p:nvPr/>
        </p:nvSpPr>
        <p:spPr>
          <a:xfrm>
            <a:off x="22189440" y="5074920"/>
            <a:ext cx="1018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4-gram diversity = </a:t>
            </a:r>
            <a:pPr indent="0" marL="0">
              <a:buNone/>
            </a:pPr>
            <a:r>
              <a:rPr lang="en-US" sz="3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7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keys nearly identical</a:t>
            </a:r>
            <a:endParaRPr lang="en-US" sz="2000" dirty="0"/>
          </a:p>
        </p:txBody>
      </p:sp>
      <p:sp>
        <p:nvSpPr>
          <p:cNvPr id="41" name="Shape 35"/>
          <p:cNvSpPr/>
          <p:nvPr/>
        </p:nvSpPr>
        <p:spPr>
          <a:xfrm>
            <a:off x="22098000" y="6035040"/>
            <a:ext cx="10363200" cy="1508760"/>
          </a:xfrm>
          <a:prstGeom prst="rect">
            <a:avLst/>
          </a:prstGeom>
          <a:solidFill>
            <a:srgbClr val="DDE9F8"/>
          </a:solidFill>
          <a:ln w="27940">
            <a:solidFill>
              <a:srgbClr val="0066CC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22189440" y="6071616"/>
            <a:ext cx="1018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Diversity has a cost  (our key finding)</a:t>
            </a:r>
            <a:endParaRPr lang="en-US" sz="2000" dirty="0"/>
          </a:p>
        </p:txBody>
      </p:sp>
      <p:sp>
        <p:nvSpPr>
          <p:cNvPr id="43" name="Text 37"/>
          <p:cNvSpPr/>
          <p:nvPr/>
        </p:nvSpPr>
        <p:spPr>
          <a:xfrm>
            <a:off x="22189440" y="6537960"/>
            <a:ext cx="1018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 </a:t>
            </a:r>
            <a:pPr indent="0" marL="0">
              <a:buNone/>
            </a:pPr>
            <a:r>
              <a:rPr lang="en-US" sz="2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0.067 → 0.379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(×6 ↑)
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foldable share  </a:t>
            </a:r>
            <a:pPr indent="0" marL="0">
              <a:buNone/>
            </a:pPr>
            <a:r>
              <a:rPr lang="en-US" sz="2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→ 26%</a:t>
            </a:r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(intrinsic, not a bug)</a:t>
            </a:r>
            <a:endParaRPr lang="en-US" sz="1800" dirty="0"/>
          </a:p>
        </p:txBody>
      </p:sp>
      <p:pic>
        <p:nvPicPr>
          <p:cNvPr id="44" name="Image 4" descr="/sessions/elegant-nice-mayer/mnt/DL Final/ab_ld4lg_results/figures/fig_pareto_v2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2098000" y="7726680"/>
            <a:ext cx="10363200" cy="402336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22052280" y="11795760"/>
            <a:ext cx="1045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  Pareto frontier — each marker is one sweep config.  Novelty starts costing structural plausibility around T=1.15.</a:t>
            </a:r>
            <a:endParaRPr lang="en-US" sz="1600" dirty="0"/>
          </a:p>
        </p:txBody>
      </p:sp>
      <p:pic>
        <p:nvPicPr>
          <p:cNvPr id="46" name="Image 5" descr="/sessions/elegant-nice-mayer/mnt/DL Final/ab_ld4lg_results/figures/fig_sweep_heatmap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2098000" y="12664440"/>
            <a:ext cx="10363200" cy="64008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22052280" y="19110960"/>
            <a:ext cx="1045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5.  Sampling is a control knob, not an implementation detail.</a:t>
            </a:r>
            <a:endParaRPr lang="en-US" sz="1600" dirty="0"/>
          </a:p>
        </p:txBody>
      </p:sp>
      <p:sp>
        <p:nvSpPr>
          <p:cNvPr id="48" name="Shape 40"/>
          <p:cNvSpPr/>
          <p:nvPr/>
        </p:nvSpPr>
        <p:spPr>
          <a:xfrm>
            <a:off x="0" y="19659600"/>
            <a:ext cx="32918400" cy="2286000"/>
          </a:xfrm>
          <a:prstGeom prst="rect">
            <a:avLst/>
          </a:prstGeom>
          <a:solidFill>
            <a:srgbClr val="F4F7FB"/>
          </a:solidFill>
          <a:ln w="12700">
            <a:solidFill>
              <a:srgbClr val="0E1A3B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11480" y="19751040"/>
            <a:ext cx="3209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 choice matters, but </a:t>
            </a:r>
            <a:pPr algn="ctr" indent="0" marL="0">
              <a:buNone/>
            </a:pPr>
            <a:r>
              <a:rPr lang="en-US" sz="2400" b="1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strategy</a:t>
            </a:r>
            <a:pPr algn="ctr" indent="0" marL="0">
              <a:buNone/>
            </a:pPr>
            <a:r>
              <a:rPr lang="en-US" sz="2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decides whether the model produces clones, useful variants, or biologically risky sequences.</a:t>
            </a:r>
            <a:endParaRPr lang="en-US" sz="2400" dirty="0"/>
          </a:p>
        </p:txBody>
      </p:sp>
      <p:sp>
        <p:nvSpPr>
          <p:cNvPr id="50" name="Shape 42"/>
          <p:cNvSpPr/>
          <p:nvPr/>
        </p:nvSpPr>
        <p:spPr>
          <a:xfrm>
            <a:off x="411480" y="20436840"/>
            <a:ext cx="3931920" cy="502920"/>
          </a:xfrm>
          <a:prstGeom prst="rect">
            <a:avLst/>
          </a:prstGeom>
          <a:solidFill>
            <a:srgbClr val="FAE3E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21208" y="20436840"/>
            <a:ext cx="3712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→ mode collapse</a:t>
            </a:r>
            <a:endParaRPr lang="en-US" sz="1400" dirty="0"/>
          </a:p>
        </p:txBody>
      </p:sp>
      <p:sp>
        <p:nvSpPr>
          <p:cNvPr id="52" name="Shape 44"/>
          <p:cNvSpPr/>
          <p:nvPr/>
        </p:nvSpPr>
        <p:spPr>
          <a:xfrm>
            <a:off x="4526280" y="20436840"/>
            <a:ext cx="4846320" cy="502920"/>
          </a:xfrm>
          <a:prstGeom prst="rect">
            <a:avLst/>
          </a:prstGeom>
          <a:solidFill>
            <a:srgbClr val="FAE3E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4636008" y="20436840"/>
            <a:ext cx="4626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 self-cond → rank divergence</a:t>
            </a:r>
            <a:endParaRPr lang="en-US" sz="1400" dirty="0"/>
          </a:p>
        </p:txBody>
      </p:sp>
      <p:sp>
        <p:nvSpPr>
          <p:cNvPr id="54" name="Shape 46"/>
          <p:cNvSpPr/>
          <p:nvPr/>
        </p:nvSpPr>
        <p:spPr>
          <a:xfrm>
            <a:off x="9555480" y="20436840"/>
            <a:ext cx="5029200" cy="502920"/>
          </a:xfrm>
          <a:prstGeom prst="rect">
            <a:avLst/>
          </a:prstGeom>
          <a:solidFill>
            <a:srgbClr val="FAE3E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9665208" y="20436840"/>
            <a:ext cx="4809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diversity → less foldability</a:t>
            </a:r>
            <a:endParaRPr lang="en-US" sz="1400" dirty="0"/>
          </a:p>
        </p:txBody>
      </p:sp>
      <p:sp>
        <p:nvSpPr>
          <p:cNvPr id="56" name="Text 48"/>
          <p:cNvSpPr/>
          <p:nvPr/>
        </p:nvSpPr>
        <p:spPr>
          <a:xfrm>
            <a:off x="15041880" y="20436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 antigen-conditional · structure-aware diffusion · active selection on Pareto</a:t>
            </a:r>
            <a:endParaRPr lang="en-US" sz="1400" dirty="0"/>
          </a:p>
        </p:txBody>
      </p:sp>
      <p:sp>
        <p:nvSpPr>
          <p:cNvPr id="57" name="Text 49"/>
          <p:cNvSpPr/>
          <p:nvPr/>
        </p:nvSpPr>
        <p:spPr>
          <a:xfrm>
            <a:off x="411480" y="21031200"/>
            <a:ext cx="3209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Lovelace et al. LD4LG NeurIPS 2023  ·  </a:t>
            </a:r>
            <a:pPr algn="ctr" indent="0" marL="0">
              <a:buNone/>
            </a:pPr>
            <a:r>
              <a:rPr lang="en-US" sz="11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DPLM ICLR 2024  ·  </a:t>
            </a:r>
            <a:pPr algn="ctr" indent="0" marL="0">
              <a:buNone/>
            </a:pPr>
            <a:r>
              <a:rPr lang="en-US" sz="11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&amp; Salimans CFG 2022  ·  </a:t>
            </a:r>
            <a:pPr algn="ctr" indent="0" marL="0">
              <a:buNone/>
            </a:pPr>
            <a:r>
              <a:rPr lang="en-US" sz="11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Salimans &amp; Ho v-pred ICLR 2022  ·  </a:t>
            </a:r>
            <a:pPr algn="ctr" indent="0" marL="0">
              <a:buNone/>
            </a:pPr>
            <a:r>
              <a:rPr lang="en-US" sz="11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Sahoo et al. MDLM 2024  ·  </a:t>
            </a:r>
            <a:pPr algn="ctr" indent="0" marL="0">
              <a:buNone/>
            </a:pPr>
            <a:r>
              <a:rPr lang="en-US" sz="11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Ruffolo et al. IgFold Nat. Comms 2023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2026-05-03T04:08:36Z</dcterms:created>
  <dcterms:modified xsi:type="dcterms:W3CDTF">2026-05-03T04:08:36Z</dcterms:modified>
</cp:coreProperties>
</file>